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HIDE THIS SLIDE BEFORE PRESENTING: right-click the slide thumbnail → Hide Slide (PowerPoint) or Skip slide (Google Slides).</a:t>
            </a:r>
          </a:p>
          <a:p/>
          <a:p>
            <a:r>
              <a:t>Run-through checklist 30 minutes before: polls created, breakout rooms enabled, co-host confirmed, recording decision made, app link copied, this deck open in Slide Show and shared via Zoom Share Screen (share the window, not the whole desktop).</a:t>
            </a:r>
          </a:p>
          <a:p/>
          <a:p>
            <a:r>
              <a:t>Co-host job list: admit from waiting room, launch/close polls when cued, paste each chat prompt (they are written verbatim in the notes of each slide), watch for raised hands, and broadcast the breakout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0:00–0:03 (open the Zoom room 5 minutes early).</a:t>
            </a:r>
          </a:p>
          <a:p/>
          <a:p>
            <a:r>
              <a:t>ZOOM — WAITING ROOM: admit people as they arrive and greet each by name; the cohort starts forming before the webinar starts. If you promised a recording, start it now (Record → Record to the Cloud) and say so out loud.</a:t>
            </a:r>
          </a:p>
          <a:p/>
          <a:p>
            <a:r>
              <a:t>ZOOM — CHAT: co-host pastes this prompt as soon as the first person lands: “👋 While we gather: where are you joining from, and how many years have you been a nurse?” Read answers aloud as they appear. Ask everyone to set chat to “Everyone” (not Host only).</a:t>
            </a:r>
          </a:p>
          <a:p/>
          <a:p>
            <a:r>
              <a:t>Optional: ask participants to rename themselves — Participants → hover your name → Rename → “First name · specialty” (e.g., “Karen · ICU”). It makes the breakouts warmer.</a:t>
            </a:r>
          </a:p>
          <a:p/>
          <a:p>
            <a:r>
              <a:t>Start on time even if people are still arriving.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0:03–0:07.</a:t>
            </a:r>
          </a:p>
          <a:p/>
          <a:p>
            <a:r>
              <a:t>Sue: your 90-second story — why you built this. Normalize the feeling: this is not burnout-shaming, and nobody here is broken.</a:t>
            </a:r>
          </a:p>
          <a:p/>
          <a:p>
            <a:r>
              <a:t>ZOOM — POLL: click Polls → launch Poll 1 (“You still love nursing. You also dread the next shift. Does that describe you?”). Give it 30–45 seconds — hold the silence while answers come in. Click End Poll, then Share Results, and read the split aloud (“Look at that — most of this room says ‘yes, most days’”).</a:t>
            </a:r>
          </a:p>
          <a:p/>
          <a:p>
            <a:r>
              <a:t>The point to land: they are in the right room, and they are not the only one. Close the poll results window before advancing so your slides come back to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0:07–0:10. Keep bios short — credibility plus warmth, under a minute each.</a:t>
            </a:r>
          </a:p>
          <a:p/>
          <a:p>
            <a:r>
              <a:t>ZOOM — VIDEO: have Sue and Alyson both on camera here. If your Zoom plan allows, use Spotlight (hover a video → ⋯ → Spotlight for everyone) on whoever is speaking, and remove the spotlight when you move on.</a:t>
            </a:r>
          </a:p>
          <a:p/>
          <a:p>
            <a:r>
              <a:t>Introduce Hope in one line: she's the coach inside the app, she asks more questions than she answers, and she unlocks after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0:10–0:12. Set the culture explicitly — this slide is the container for every discussion that follows. Emphasize confidentiality: stories stay, lessons leave. Nobody is graded and nobody is behind.</a:t>
            </a:r>
          </a:p>
          <a:p/>
          <a:p>
            <a:r>
              <a:t>ZOOM — REACTIONS: teach the room the two buttons you'll use all series: Reactions → 👍 / ❤️ (“if that agreement lands for you, tap a heart right now — try it”), and Reactions → Raise Hand for speaking up. Watching everyone try it is a 20-second warm-up that pays off every week.</a:t>
            </a:r>
          </a:p>
          <a:p/>
          <a:p>
            <a:r>
              <a:t>Invite cameras on when possible, but make audio-only explicitly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0:12–0:20 (8 minutes in rooms).</a:t>
            </a:r>
          </a:p>
          <a:p/>
          <a:p>
            <a:r>
              <a:t>ZOOM — CHAT first: co-host pastes the three prompts so people carry them into the rooms: “In your room: 1) name, specialty, years in nursing · 2) ONE WORD for how work feels right now · 3) if time — what made you say yes?”</a:t>
            </a:r>
          </a:p>
          <a:p/>
          <a:p>
            <a:r>
              <a:t>ZOOM — BREAKOUT ROOMS, exact steps: click Breakout Rooms → Assign automatically → set rooms so groups are 3–4 people → Options: ✔ Automatically move participants into rooms · ✔ Breakout rooms close after 8 minutes · ✔ 60-second countdown → Open All Rooms.</a:t>
            </a:r>
          </a:p>
          <a:p/>
          <a:p>
            <a:r>
              <a:t>While rooms run: you and the co-host use “Join” to drop into a room or two and just listen. At ~4 minutes, Broadcast Message to All: “Halfway — make sure everyone has shared their one word!”</a:t>
            </a:r>
          </a:p>
          <a:p/>
          <a:p>
            <a:r>
              <a:t>If breakout rooms aren't available on your account: run popcorn intros on the main mic instead — call on three people at a time, 30 seconds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0:20–0:23.</a:t>
            </a:r>
          </a:p>
          <a:p/>
          <a:p>
            <a:r>
              <a:t>ZOOM — CHAT STORM technique (this makes it feel like a word cloud): say “Type your one word in the chat — but DON'T press Enter until I say GO.” Wait five seconds. Say “GO.” The burst of simultaneous words is the moment.</a:t>
            </a:r>
          </a:p>
          <a:p/>
          <a:p>
            <a:r>
              <a:t>Read a dozen words aloud, slowly. Name the themes you see — tired, torn, invisible, hopeful, curious. Land the point: look at this screen; you are not the only one. This shared naming IS the cohort forming.</a:t>
            </a:r>
          </a:p>
          <a:p/>
          <a:p>
            <a:r>
              <a:t>Co-host: screenshot or save the chat (Chat → ⋯ → Save Chat) — these words are gold for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0:23–0:27. This is the whole program on one slide — take your time here. Each part answers one question, and Weeks 1–6 simply walk the three parts in order.</a:t>
            </a:r>
          </a:p>
          <a:p/>
          <a:p>
            <a:r>
              <a:t>ZOOM: no interaction on this slide on purpose — after two discussion moments, the room is ready to listen. Keep your video on and large (ask the co-host to Spotlight you) and slow your pace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0:27–0:32. The signature reframe of the whole program — let it breathe. Give one quick example of each load from real shifts.</a:t>
            </a:r>
          </a:p>
          <a:p/>
          <a:p>
            <a:r>
              <a:t>ZOOM — CHAT VOTE: co-host pastes: “Which load do you feel most right now? Type B (body), I (interruption), or C (change).” Tally out loud as letters scroll by (“lots of I's tonight…”). ALTERNATIVE: launch Poll 2 if you created it — polls give you exact percentages to read back.</a:t>
            </a:r>
          </a:p>
          <a:p/>
          <a:p>
            <a:r>
              <a:t>Tease Week 1: “Next week we score all three of these together, live.”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0:32–0:35. These five goals map one-to-one to the pre/post survey items, so you can honestly say: we measure this. Frame the survey as part of the method, not homework — the same short survey this week and in Week 6 shows each nurse her own change.</a:t>
            </a:r>
          </a:p>
          <a:p/>
          <a:p>
            <a:r>
              <a:t>ZOOM — REACTIONS: quick pulse — “tap a 👍 if at least one of these five is exactly why you signed up.” Acknowledge the flurry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0:35–0:38. Walk the map top to bottom in under three minutes — details come in each week's webinar. Point out that tonight IS Week 0 (the highlighted row). Every week starts live, together; your cohort's meeting day, time, and Zoom link arrive by email.</a:t>
            </a:r>
          </a:p>
          <a:p/>
          <a:p>
            <a:r>
              <a:t>ZOOM: nothing interactive — but this is a good moment for the co-host to paste the app link in chat so people can see the same map in The Program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0:38–0:41. The rhythm is the promise: no week ever asks for more than short lessons (none over eight minutes), one workbook mission, and showing up to share. Explain unlocking plainly: lessons open after each live webinar, so the cohort moves together — nobody races ahead, nobody falls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0:41–0:44.</a:t>
            </a:r>
          </a:p>
          <a:p/>
          <a:p>
            <a:r>
              <a:t>ZOOM — SCREEN SHARE the app for two minutes: click Share Screen → pick your BROWSER WINDOW (not the whole desktop) → Share. Show: the starting-point survey → mark tonight's webinar attended → Week 0 opens → the “Download the workbook (PDF)” button on My Workbook → the Roles Explorer → say hello to Hope. Then Stop Share and RE-SHARE the slides window (you'll need to restart the slide show).</a:t>
            </a:r>
          </a:p>
          <a:p/>
          <a:p>
            <a:r>
              <a:t>ZOOM — CHAT: while you share, co-host pastes the app link and: “Follow along or do this right after: survey → ‘I attended this webinar’ → download your workbook PDF.” Encourage everyone to grab the PDF while you're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0:44–0:50. This is a deliberate taste of Week 2 — don't rush it; this moment sells the whole Value week.</a:t>
            </a:r>
          </a:p>
          <a:p/>
          <a:p>
            <a:r>
              <a:t>ZOOM — CHAT first: co-host pastes: “One thing you do at work that you brush off as ordinary — go.” Read several aloud.</a:t>
            </a:r>
          </a:p>
          <a:p/>
          <a:p>
            <a:r>
              <a:t>ZOOM — RAISE HAND for voices: “If you'd say yours out loud, use Reactions → Raise Hand.” Participants panel shows raised hands in order — call on 2–3 by name and click “Ask to Unmute” next to each. Lower their hand for them afterward (hover name → Lower Hand).</a:t>
            </a:r>
          </a:p>
          <a:p/>
          <a:p>
            <a:r>
              <a:t>Your job is to reflect specifics back: “You just described de-escalating a family in crisis — that's not ordinary.” Close with: your ordinary isn't ordinary.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0:50–0:53. Four small steps, fifteen minutes total this week. The intention sentence is the anchor for the whole program — Hope and the Week 6 close both come back to it.</a:t>
            </a:r>
          </a:p>
          <a:p/>
          <a:p>
            <a:r>
              <a:t>ZOOM — CHAT: co-host pastes the app link again, plus: “Your mission this week: 1) starting-point survey 2) mark tonight attended 3) watch ‘You're Not Done: Start Here’ 4) write one intention.” Then: “If yours is already forming, share it now: ‘I want to leave with…’” — a few real examples in chat make it concrete for everyone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0:53–0:58. Open floor — mic or chat, both welcome.</a:t>
            </a:r>
          </a:p>
          <a:p/>
          <a:p>
            <a:r>
              <a:t>ZOOM — RAISE HAND + CHAT together: “Raise your hand (Reactions → Raise Hand) or drop your question in chat.” Co-host reads chat questions aloud so the recording captures them; you call on raised hands with Ask to Unmute.</a:t>
            </a:r>
          </a:p>
          <a:p/>
          <a:p>
            <a:r>
              <a:t>If quiet, seed it: “What are you hoping for? What are you worried about?”</a:t>
            </a:r>
          </a:p>
          <a:p/>
          <a:p>
            <a:r>
              <a:t>Park anything financial for Alyson's Week 5 session — say so warmly and visibly write it down (“that's going on the Week 5 list”).</a:t>
            </a:r>
          </a:p>
          <a:p/>
          <a:p>
            <a:r>
              <a:t>Watch the clock — protect the last two minutes for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0:58–1:00. End on time — that's a promise you're modeling for the next six weeks. Thank a few people by name for what they shared tonight. Last line, slowly: you are not done, you are just evolving. See you at Week 1: Name the Strain.</a:t>
            </a:r>
          </a:p>
          <a:p/>
          <a:p>
            <a:r>
              <a:t>ZOOM — WRAP: stop the recording (⏹), co-host pastes the app link one last time with “See you next week — same link.” After you formally end, you can stay in the room a minute for stragglers, then End Meeting for All.</a:t>
            </a:r>
          </a:p>
          <a:p/>
          <a:p>
            <a:r>
              <a:t>AFTER THE MEETING: download the saved chat and the poll results (Zoom web portal → Reports → Meeting → Poll Report) — the one-words and intentions feed directly into your Week 1 and Week 2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FACILITATOR SETUP · HIDE THIS SLIDE BEFORE YOU PRESENT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Before you go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B3A5B"/>
                </a:solidFill>
                <a:latin typeface="Georgia"/>
              </a:rPr>
              <a:t>Zoom setup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Create Poll 1 in advance: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Zoom web portal → your meeting → Polls. Question: “You still love nursing. You also dread the next shift. Does that describe you?” Answers: Yes, most days / Some days / Not yet, but I'm curious.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(Optional) Poll 2: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“Which load do you feel most right now?” Answers: Body / Interruption / Change. (Slide 9 also works as a simple chat vote.)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Enable breakout rooms: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Settings → In Meeting (Advanced) → Breakout rooms ON, with “Assign automatically.”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Assign a co-host: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they run polls, watch chat, paste the prepared chat prompts, and manage the waiting room.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Turn ON: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waiting room, participant rename, “Allow participants to unmute themselves,” and cloud recording if you promised one.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Have ready to paste in chat: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the app link, and each slide's chat prompt (written in that slide's notes).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KICKOFF WEBINAR · WEEK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0:00–0:03 · Arrivals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B3A5B"/>
                </a:solidFill>
                <a:latin typeface="Georgia"/>
              </a:rPr>
              <a:t>Welcome to Thrive 55+ Nursing Advantage™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6309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6302F"/>
                </a:solidFill>
                <a:latin typeface="Arial"/>
              </a:rPr>
              <a:t>Built on the </a:t>
            </a:r>
            <a:r>
              <a:rPr sz="1900" b="1">
                <a:solidFill>
                  <a:srgbClr val="187878"/>
                </a:solidFill>
                <a:latin typeface="Arial"/>
              </a:rPr>
              <a:t>Thrive 55+ Career Direction Method™</a:t>
            </a:r>
            <a:r>
              <a:rPr sz="1900">
                <a:solidFill>
                  <a:srgbClr val="26302F"/>
                </a:solidFill>
                <a:latin typeface="Arial"/>
              </a:rPr>
              <a:t>, the intellectual property behind the transformation: guiding experienced nurses through a six-week cohort with Sue Adair, BSN, RN, and Alyson.</a:t>
            </a:r>
          </a:p>
          <a:p>
            <a:pPr>
              <a:spcBef>
                <a:spcPts val="1000"/>
              </a:spcBef>
            </a:pPr>
            <a:r>
              <a:rPr sz="1500" b="0" i="1">
                <a:solidFill>
                  <a:srgbClr val="57635F"/>
                </a:solidFill>
                <a:latin typeface="Arial"/>
              </a:rPr>
              <a:t>Name the strain. Capture your value. Investigate your options.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06240"/>
            <a:ext cx="6309360" cy="105156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WHILE WE GATHER · IN THE CHAT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Where are you joining from tonight, and how many years have you been a nurse?</a:t>
            </a:r>
          </a:p>
        </p:txBody>
      </p:sp>
      <p:pic>
        <p:nvPicPr>
          <p:cNvPr id="8" name="Picture 7" descr="_crop_hero-walking.jpg"/>
          <p:cNvPicPr>
            <a:picLocks noChangeAspect="1"/>
          </p:cNvPicPr>
          <p:nvPr/>
        </p:nvPicPr>
        <p:blipFill>
          <a:blip r:embed="rId2"/>
          <a:srcRect l="16000" t="5000" r="2000" b="13000"/>
          <a:stretch>
            <a:fillRect/>
          </a:stretch>
        </p:blipFill>
        <p:spPr>
          <a:xfrm>
            <a:off x="7223760" y="1965960"/>
            <a:ext cx="44348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FD4C2"/>
                </a:solidFill>
                <a:latin typeface="Arial"/>
              </a:rPr>
              <a:t>WHY WE'RE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4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0:03–0:07 ·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You still love nursing.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E38E76"/>
                </a:solidFill>
                <a:latin typeface="Georgia"/>
              </a:rPr>
              <a:t>You also dread the next shift.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EAF1EE"/>
                </a:solidFill>
                <a:latin typeface="Arial"/>
              </a:rPr>
              <a:t>Both can be true, and there's a name for what you're feeling. That's what these six weeks are for.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14800"/>
            <a:ext cx="10515600" cy="1051560"/>
          </a:xfrm>
          <a:prstGeom prst="roundRect">
            <a:avLst>
              <a:gd name="adj" fmla="val 18000"/>
            </a:avLst>
          </a:prstGeom>
          <a:solidFill>
            <a:srgbClr val="3A4A60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E38E76"/>
                </a:solidFill>
                <a:latin typeface="Arial"/>
              </a:rPr>
              <a:t>ZOOM POLL</a:t>
            </a:r>
          </a:p>
          <a:p>
            <a:r>
              <a:rPr sz="1600" b="0" i="0">
                <a:solidFill>
                  <a:srgbClr val="FFFFFF"/>
                </a:solidFill>
                <a:latin typeface="Arial"/>
              </a:rPr>
              <a:t>Does that sentence describe you?  Yes, most days · Some days · Not yet, but I'm curious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FD4C2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YOUR GUIDES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0:07–0:10 · Introductions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B3A5B"/>
                </a:solidFill>
                <a:latin typeface="Georgia"/>
              </a:rPr>
              <a:t>Who's walking this with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177800"/>
          <a:lstStyle/>
          <a:p>
            <a:pPr algn="ctr"/>
            <a:r>
              <a:rPr sz="2000" b="1" i="0">
                <a:solidFill>
                  <a:srgbClr val="1B3A5B"/>
                </a:solidFill>
                <a:latin typeface="Georgia"/>
              </a:rPr>
              <a:t>Sue Adair, BSN, RN</a:t>
            </a:r>
          </a:p>
          <a:p>
            <a:r>
              <a:rPr sz="1400" b="1" i="0">
                <a:solidFill>
                  <a:srgbClr val="0F5F5F"/>
                </a:solidFill>
                <a:latin typeface="Arial"/>
              </a:rPr>
              <a:t>Career direction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57635F"/>
                </a:solidFill>
                <a:latin typeface="Arial"/>
              </a:rPr>
              <a:t>Founder of Thrive 55+ Nursing Advantage. Decades at the bedside, and the creator of the three-part method you'll learn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177800"/>
          <a:lstStyle/>
          <a:p>
            <a:pPr algn="ctr"/>
            <a:r>
              <a:rPr sz="2000" b="1" i="0">
                <a:solidFill>
                  <a:srgbClr val="1B3A5B"/>
                </a:solidFill>
                <a:latin typeface="Georgia"/>
              </a:rPr>
              <a:t>Alyson</a:t>
            </a:r>
          </a:p>
          <a:p>
            <a:r>
              <a:rPr sz="1400" b="1" i="0">
                <a:solidFill>
                  <a:srgbClr val="0F5F5F"/>
                </a:solidFill>
                <a:latin typeface="Arial"/>
              </a:rPr>
              <a:t>Financial readiness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57635F"/>
                </a:solidFill>
                <a:latin typeface="Arial"/>
              </a:rPr>
              <a:t>A career decision is also a financial decision. Alyson leads Week 5, so your direction is informed on both sides.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6118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3200" rIns="203200" tIns="177800"/>
          <a:lstStyle/>
          <a:p>
            <a:pPr algn="ctr"/>
            <a:r>
              <a:rPr sz="2000" b="1" i="0">
                <a:solidFill>
                  <a:srgbClr val="1B3A5B"/>
                </a:solidFill>
                <a:latin typeface="Georgia"/>
              </a:rPr>
              <a:t>Hope, your coach</a:t>
            </a:r>
          </a:p>
          <a:p>
            <a:r>
              <a:rPr sz="1400" b="1" i="0">
                <a:solidFill>
                  <a:srgbClr val="0F5F5F"/>
                </a:solidFill>
                <a:latin typeface="Arial"/>
              </a:rPr>
              <a:t>In the app, anytime</a:t>
            </a:r>
          </a:p>
          <a:p>
            <a:pPr>
              <a:spcBef>
                <a:spcPts val="800"/>
              </a:spcBef>
            </a:pPr>
            <a:r>
              <a:rPr sz="1450" b="0" i="0">
                <a:solidFill>
                  <a:srgbClr val="57635F"/>
                </a:solidFill>
                <a:latin typeface="Arial"/>
              </a:rPr>
              <a:t>An AI coach grounded in this course. She'll ask more questions than she answers, and she joins you right after tonight.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HOW THIS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0:10–0:12 · Our agreements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B3A5B"/>
                </a:solidFill>
                <a:latin typeface="Georgia"/>
              </a:rPr>
              <a:t>This is a cohort, not a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Stories stay, lessons leave.</a:t>
            </a:r>
            <a:r>
              <a:rPr sz="1650" b="0" i="0">
                <a:solidFill>
                  <a:srgbClr val="26302F"/>
                </a:solidFill>
                <a:latin typeface="Arial"/>
              </a:rPr>
              <a:t> What's shared here is confidential.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Every path is welcome.</a:t>
            </a:r>
            <a:r>
              <a:rPr sz="1650" b="0" i="0">
                <a:solidFill>
                  <a:srgbClr val="26302F"/>
                </a:solidFill>
                <a:latin typeface="Arial"/>
              </a:rPr>
              <a:t> Bedside, clinic, leadership, already searching, just curious. Nobody is behind.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Cameras on when you can</a:t>
            </a:r>
            <a:r>
              <a:rPr sz="1650" b="0" i="0">
                <a:solidFill>
                  <a:srgbClr val="26302F"/>
                </a:solidFill>
                <a:latin typeface="Arial"/>
              </a:rPr>
              <a:t>, and audio-only is always okay.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Discussion over lecture.</a:t>
            </a:r>
            <a:r>
              <a:rPr sz="1650" b="0" i="0">
                <a:solidFill>
                  <a:srgbClr val="26302F"/>
                </a:solidFill>
                <a:latin typeface="Arial"/>
              </a:rPr>
              <a:t> The chat is always open; your experience is course material.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No one will tell you to quit, or to stay.</a:t>
            </a:r>
            <a:r>
              <a:rPr sz="1650" b="0" i="0">
                <a:solidFill>
                  <a:srgbClr val="26302F"/>
                </a:solidFill>
                <a:latin typeface="Arial"/>
              </a:rPr>
              <a:t> You'll decide, informed.</a:t>
            </a:r>
          </a:p>
        </p:txBody>
      </p:sp>
      <p:pic>
        <p:nvPicPr>
          <p:cNvPr id="7" name="Picture 6" descr="_crop_leadership-group.jpg"/>
          <p:cNvPicPr>
            <a:picLocks noChangeAspect="1"/>
          </p:cNvPicPr>
          <p:nvPr/>
        </p:nvPicPr>
        <p:blipFill>
          <a:blip r:embed="rId2"/>
          <a:srcRect l="2000" t="10000" r="16000" b="8000"/>
          <a:stretch>
            <a:fillRect/>
          </a:stretch>
        </p:blipFill>
        <p:spPr>
          <a:xfrm>
            <a:off x="7635240" y="2011680"/>
            <a:ext cx="40233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BUILDING YOUR COHORT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0:12–0:20 · Breakout · 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B3A5B"/>
                </a:solidFill>
                <a:latin typeface="Georgia"/>
              </a:rPr>
              <a:t>Meet your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Your name, your specialty,</a:t>
            </a:r>
            <a:r>
              <a:rPr sz="1700" b="0" i="0">
                <a:solidFill>
                  <a:srgbClr val="26302F"/>
                </a:solidFill>
                <a:latin typeface="Arial"/>
              </a:rPr>
              <a:t> and your years in nursing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One word</a:t>
            </a:r>
            <a:r>
              <a:rPr sz="1700" b="0" i="0">
                <a:solidFill>
                  <a:srgbClr val="26302F"/>
                </a:solidFill>
                <a:latin typeface="Arial"/>
              </a:rPr>
              <a:t> for how work feels right now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If there's time:</a:t>
            </a:r>
            <a:r>
              <a:rPr sz="1700" b="0" i="0">
                <a:solidFill>
                  <a:srgbClr val="26302F"/>
                </a:solidFill>
                <a:latin typeface="Arial"/>
              </a:rPr>
              <a:t> what made you say yes to this program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97680"/>
            <a:ext cx="6583680" cy="100584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BREAKOUT ROOMS · 8 MINUTES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Hold on to your one word; you'll need it when we come back.</a:t>
            </a:r>
          </a:p>
        </p:txBody>
      </p:sp>
      <p:pic>
        <p:nvPicPr>
          <p:cNvPr id="8" name="Picture 7" descr="_crop_group-ske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057400"/>
            <a:ext cx="41605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FD4C2"/>
                </a:solidFill>
                <a:latin typeface="Arial"/>
              </a:rPr>
              <a:t>WELCOME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4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0:20–0:23 · Chat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Georgia"/>
              </a:rPr>
              <a:t>One word, everyone, all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EAF1EE"/>
                </a:solidFill>
                <a:latin typeface="Arial"/>
              </a:rPr>
              <a:t>Type your one word for how work feels right now, and then just watch the screen for a moment.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83280"/>
            <a:ext cx="10789920" cy="1051560"/>
          </a:xfrm>
          <a:prstGeom prst="roundRect">
            <a:avLst>
              <a:gd name="adj" fmla="val 18000"/>
            </a:avLst>
          </a:prstGeom>
          <a:solidFill>
            <a:srgbClr val="3A4A60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E38E76"/>
                </a:solidFill>
                <a:latin typeface="Arial"/>
              </a:rPr>
              <a:t>CHAT STORM</a:t>
            </a:r>
          </a:p>
          <a:p>
            <a:r>
              <a:rPr sz="1600" b="0" i="0">
                <a:solidFill>
                  <a:srgbClr val="FFFFFF"/>
                </a:solidFill>
                <a:latin typeface="Arial"/>
              </a:rPr>
              <a:t>Look at those words. Whatever yours was, you are not the only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FD4C2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THE CAREER DIRECTION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0:23–0:27 · 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B3A5B"/>
                </a:solidFill>
                <a:latin typeface="Georgia"/>
              </a:rPr>
              <a:t>Three parts. Three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sz="2400" b="1" i="0">
                <a:solidFill>
                  <a:srgbClr val="1B3A5B"/>
                </a:solidFill>
                <a:latin typeface="Georgia"/>
              </a:rPr>
              <a:t>1  </a:t>
            </a:r>
            <a:r>
              <a:rPr sz="1900" b="1" i="0">
                <a:solidFill>
                  <a:srgbClr val="1B3A5B"/>
                </a:solidFill>
                <a:latin typeface="Georgia"/>
              </a:rPr>
              <a:t>Name the Strain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87878"/>
                </a:solidFill>
                <a:latin typeface="Arial"/>
              </a:rPr>
              <a:t>What is wearing you down?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Score your body load, interruption load, and change load from 1–10. Strain isn't weakness; it's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sz="2400" b="1" i="0">
                <a:solidFill>
                  <a:srgbClr val="1B3A5B"/>
                </a:solidFill>
                <a:latin typeface="Georgia"/>
              </a:rPr>
              <a:t>2  </a:t>
            </a:r>
            <a:r>
              <a:rPr sz="1900" b="1" i="0">
                <a:solidFill>
                  <a:srgbClr val="1B3A5B"/>
                </a:solidFill>
                <a:latin typeface="Georgia"/>
              </a:rPr>
              <a:t>Capture Your Value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87878"/>
                </a:solidFill>
                <a:latin typeface="Arial"/>
              </a:rPr>
              <a:t>What do you bring with you?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Name the strengths you keep dismissing because they feel ordinary. AI cannot duplicate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52400"/>
          <a:lstStyle/>
          <a:p>
            <a:pPr algn="ctr"/>
            <a:r>
              <a:rPr sz="2400" b="1" i="0">
                <a:solidFill>
                  <a:srgbClr val="1B3A5B"/>
                </a:solidFill>
                <a:latin typeface="Georgia"/>
              </a:rPr>
              <a:t>3  </a:t>
            </a:r>
            <a:r>
              <a:rPr sz="1900" b="1" i="0">
                <a:solidFill>
                  <a:srgbClr val="1B3A5B"/>
                </a:solidFill>
                <a:latin typeface="Georgia"/>
              </a:rPr>
              <a:t>Investigate Your Options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187878"/>
                </a:solidFill>
                <a:latin typeface="Arial"/>
              </a:rPr>
              <a:t>What's worth investigating next?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Reconnaissance turns fear into information: study the work, ask people who know it, compare what you 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7635F"/>
                </a:solidFill>
                <a:latin typeface="Arial"/>
              </a:rPr>
              <a:t>Not one decision made in a panic, but a method you can learn, repeat, and walk with a cohort beside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THE REFRAME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0:27–0:32 ·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B3A5B"/>
                </a:solidFill>
                <a:latin typeface="Georgia"/>
              </a:rPr>
              <a:t>“Your highest score doesn't tell you to panic. It tells you where to look first.”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Body load</a:t>
            </a:r>
            <a:r>
              <a:rPr sz="1700" b="0" i="0">
                <a:solidFill>
                  <a:srgbClr val="26302F"/>
                </a:solidFill>
                <a:latin typeface="Arial"/>
              </a:rPr>
              <a:t>: lifting, standing, transferring, needing longer to recover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Interruption load</a:t>
            </a:r>
            <a:r>
              <a:rPr sz="1700" b="0" i="0">
                <a:solidFill>
                  <a:srgbClr val="26302F"/>
                </a:solidFill>
                <a:latin typeface="Arial"/>
              </a:rPr>
              <a:t>: alarms, call lights, open mental loops, constant task-switching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700" b="1" i="0">
                <a:solidFill>
                  <a:srgbClr val="1B3A5B"/>
                </a:solidFill>
                <a:latin typeface="Arial"/>
              </a:rPr>
              <a:t>Change load</a:t>
            </a:r>
            <a:r>
              <a:rPr sz="1700" b="0" i="0">
                <a:solidFill>
                  <a:srgbClr val="26302F"/>
                </a:solidFill>
                <a:latin typeface="Arial"/>
              </a:rPr>
              <a:t>: new systems and expectations, learned at full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26280"/>
            <a:ext cx="10972800" cy="105156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IN THE CHAT · OR POLL 2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Which one do you feel most right now? Type B (body), I (interruption), or C (change).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LEARNING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0:32–0:35 · What you'll leave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By Week 6, you will be able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Name what's wearing you down</a:t>
            </a:r>
            <a:r>
              <a:rPr sz="1650" b="0" i="0">
                <a:solidFill>
                  <a:srgbClr val="26302F"/>
                </a:solidFill>
                <a:latin typeface="Arial"/>
              </a:rPr>
              <a:t>: your three loads, scored, in writing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Describe five strengths</a:t>
            </a:r>
            <a:r>
              <a:rPr sz="1650" b="0" i="0">
                <a:solidFill>
                  <a:srgbClr val="26302F"/>
                </a:solidFill>
                <a:latin typeface="Arial"/>
              </a:rPr>
              <a:t> you'd bring to a next role, without shame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Investigate a role before applying</a:t>
            </a:r>
            <a:r>
              <a:rPr sz="1650" b="0" i="0">
                <a:solidFill>
                  <a:srgbClr val="26302F"/>
                </a:solidFill>
                <a:latin typeface="Arial"/>
              </a:rPr>
              <a:t>: five postings, three conversations, one comparison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Know your money questions</a:t>
            </a:r>
            <a:r>
              <a:rPr sz="1650" b="0" i="0">
                <a:solidFill>
                  <a:srgbClr val="26302F"/>
                </a:solidFill>
                <a:latin typeface="Arial"/>
              </a:rPr>
              <a:t>: the income, benefit, and timing facts to gather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50" b="1" i="0">
                <a:solidFill>
                  <a:srgbClr val="1B3A5B"/>
                </a:solidFill>
                <a:latin typeface="Arial"/>
              </a:rPr>
              <a:t>Commit to one informed step</a:t>
            </a:r>
            <a:r>
              <a:rPr sz="1650" b="0" i="0">
                <a:solidFill>
                  <a:srgbClr val="26302F"/>
                </a:solidFill>
                <a:latin typeface="Arial"/>
              </a:rPr>
              <a:t>: specific, chosen by you, with a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9496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7635F"/>
                </a:solidFill>
                <a:latin typeface="Arial"/>
              </a:rPr>
              <a:t>And we measure it together: a short survey this week, the same one at the end. You'll see your own change.</a:t>
            </a:r>
          </a:p>
        </p:txBody>
      </p:sp>
      <p:pic>
        <p:nvPicPr>
          <p:cNvPr id="8" name="Picture 7" descr="_crop_setting-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11680"/>
            <a:ext cx="402336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THE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0:35–0:38 · Six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Your six-week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 0   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Orientation             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Tonight: meet the cohort, see the whole map, set an intention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96896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 1   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Name the Strain         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Live teaching, and scoring your three loads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19272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 2   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Capture Your Value      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A live strengths workshop: naming what you bring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41648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WEEKS 3–4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Investigate Your Options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Career reconnaissance: study the work, ask three people, compare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64024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 5   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Financial Readiness     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A live session with Alyson: career and money belong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86400"/>
            <a:ext cx="11183112" cy="62179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tIns="76200"/>
          <a:lstStyle/>
          <a:p>
            <a:pPr algn="ctr"/>
            <a:r>
              <a:rPr sz="1250" b="1" i="0">
                <a:solidFill>
                  <a:srgbClr val="187878"/>
                </a:solidFill>
                <a:latin typeface="Arial"/>
              </a:rPr>
              <a:t>WEEK 6     </a:t>
            </a:r>
            <a:r>
              <a:rPr sz="1550" b="1" i="0">
                <a:solidFill>
                  <a:srgbClr val="1B3A5B"/>
                </a:solidFill>
                <a:latin typeface="Georgia"/>
              </a:rPr>
              <a:t>  Your Direction            </a:t>
            </a:r>
            <a:r>
              <a:rPr sz="1250" b="0" i="0">
                <a:solidFill>
                  <a:srgbClr val="57635F"/>
                </a:solidFill>
                <a:latin typeface="Arial"/>
              </a:rPr>
              <a:t>   Share your informed step and celebrate with your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THE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0:38–0:41 ·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Every week, the same four beats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261518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LIVE</a:t>
            </a:r>
          </a:p>
          <a:p>
            <a:pPr>
              <a:spcBef>
                <a:spcPts val="700"/>
              </a:spcBef>
            </a:pPr>
            <a:r>
              <a:rPr sz="1750" b="1" i="0">
                <a:solidFill>
                  <a:srgbClr val="187878"/>
                </a:solidFill>
                <a:latin typeface="Georgia"/>
              </a:rPr>
              <a:t>Webinar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The week starts here, together: teaching, discussion, and each 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984" y="2011680"/>
            <a:ext cx="261518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LEARN</a:t>
            </a:r>
          </a:p>
          <a:p>
            <a:pPr>
              <a:spcBef>
                <a:spcPts val="700"/>
              </a:spcBef>
            </a:pPr>
            <a:r>
              <a:rPr sz="1750" b="1" i="0">
                <a:solidFill>
                  <a:srgbClr val="187878"/>
                </a:solidFill>
                <a:latin typeface="Georgia"/>
              </a:rPr>
              <a:t>Short lessons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Unlock after the webinar. None over eight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8" y="2011680"/>
            <a:ext cx="261518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DO</a:t>
            </a:r>
          </a:p>
          <a:p>
            <a:pPr>
              <a:spcBef>
                <a:spcPts val="700"/>
              </a:spcBef>
            </a:pPr>
            <a:r>
              <a:rPr sz="1750" b="1" i="0">
                <a:solidFill>
                  <a:srgbClr val="187878"/>
                </a:solidFill>
                <a:latin typeface="Georgia"/>
              </a:rPr>
              <a:t>One mission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One workbook move per week. Small on purpose.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7112" y="2011680"/>
            <a:ext cx="2615184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SHARE</a:t>
            </a:r>
          </a:p>
          <a:p>
            <a:pPr>
              <a:spcBef>
                <a:spcPts val="700"/>
              </a:spcBef>
            </a:pPr>
            <a:r>
              <a:rPr sz="1750" b="1" i="0">
                <a:solidFill>
                  <a:srgbClr val="187878"/>
                </a:solidFill>
                <a:latin typeface="Georgia"/>
              </a:rPr>
              <a:t>Back to the cohort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57635F"/>
                </a:solidFill>
                <a:latin typeface="Arial"/>
              </a:rPr>
              <a:t>Bring what you found. Your findings teach the room.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57635F"/>
                </a:solidFill>
                <a:latin typeface="Arial"/>
              </a:rPr>
              <a:t>Lessons unlock after each webinar, so the cohort moves together, and nobody is behind.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YOUR TOOLKIT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0:41–0:44 ·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Everything lives in one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550" b="1" i="0">
                <a:solidFill>
                  <a:srgbClr val="1B3A5B"/>
                </a:solidFill>
                <a:latin typeface="Arial"/>
              </a:rPr>
              <a:t>Lessons</a:t>
            </a:r>
            <a:r>
              <a:rPr sz="1550" b="0" i="0">
                <a:solidFill>
                  <a:srgbClr val="26302F"/>
                </a:solidFill>
                <a:latin typeface="Arial"/>
              </a:rPr>
              <a:t>: the week's short videos, with pause-and-do workbook moments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550" b="1" i="0">
                <a:solidFill>
                  <a:srgbClr val="1B3A5B"/>
                </a:solidFill>
                <a:latin typeface="Arial"/>
              </a:rPr>
              <a:t>My Workbook</a:t>
            </a:r>
            <a:r>
              <a:rPr sz="1550" b="0" i="0">
                <a:solidFill>
                  <a:srgbClr val="26302F"/>
                </a:solidFill>
                <a:latin typeface="Arial"/>
              </a:rPr>
              <a:t>: saves automatically in your browser, plus a printable PDF edition to download and keep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550" b="1" i="0">
                <a:solidFill>
                  <a:srgbClr val="1B3A5B"/>
                </a:solidFill>
                <a:latin typeface="Arial"/>
              </a:rPr>
              <a:t>Roles Explorer</a:t>
            </a:r>
            <a:r>
              <a:rPr sz="1550" b="0" i="0">
                <a:solidFill>
                  <a:srgbClr val="26302F"/>
                </a:solidFill>
                <a:latin typeface="Arial"/>
              </a:rPr>
              <a:t>: role categories, search titles, red flags &amp; tradeoffs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550" b="1" i="0">
                <a:solidFill>
                  <a:srgbClr val="1B3A5B"/>
                </a:solidFill>
                <a:latin typeface="Arial"/>
              </a:rPr>
              <a:t>Resources</a:t>
            </a:r>
            <a:r>
              <a:rPr sz="1550" b="0" i="0">
                <a:solidFill>
                  <a:srgbClr val="26302F"/>
                </a:solidFill>
                <a:latin typeface="Arial"/>
              </a:rPr>
              <a:t>: job research, interview prep, and tech-confidence links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550" b="1" i="0">
                <a:solidFill>
                  <a:srgbClr val="1B3A5B"/>
                </a:solidFill>
                <a:latin typeface="Arial"/>
              </a:rPr>
              <a:t>Hope, your coach</a:t>
            </a:r>
            <a:r>
              <a:rPr sz="1550" b="0" i="0">
                <a:solidFill>
                  <a:srgbClr val="26302F"/>
                </a:solidFill>
                <a:latin typeface="Arial"/>
              </a:rPr>
              <a:t>: talk anything through, any hour, judgment-free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83480"/>
            <a:ext cx="6766560" cy="123444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UNLOCKS TONIGHT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Take the two-minute starting-point survey, then click “I attended this webinar”: Week 0, your toolkit, and the workbook PDF open with it.</a:t>
            </a:r>
          </a:p>
        </p:txBody>
      </p:sp>
      <p:pic>
        <p:nvPicPr>
          <p:cNvPr id="8" name="Picture 7" descr="_crop_h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65960"/>
            <a:ext cx="402336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A TASTE OF WEEK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0:44–0:50 ·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B3A5B"/>
                </a:solidFill>
                <a:latin typeface="Georgia"/>
              </a:rPr>
              <a:t>What do you dismiss as “just the job”?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6302F"/>
                </a:solidFill>
                <a:latin typeface="Arial"/>
              </a:rPr>
              <a:t>Reading the room before a problem has a name. Translating jargon into kindness. Holding a shift together that should have fallen apart.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6583680" cy="123444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CHAT STORM → THEN 2–3 VOICES ON THE MIC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Name one thing you do at work that you brush off as ordinary. We'll show you it isn't.</a:t>
            </a:r>
          </a:p>
        </p:txBody>
      </p:sp>
      <p:pic>
        <p:nvPicPr>
          <p:cNvPr id="8" name="Picture 7" descr="_crop_discussion.jpg"/>
          <p:cNvPicPr>
            <a:picLocks noChangeAspect="1"/>
          </p:cNvPicPr>
          <p:nvPr/>
        </p:nvPicPr>
        <p:blipFill>
          <a:blip r:embed="rId2"/>
          <a:srcRect l="7000" r="3000" b="10000"/>
          <a:stretch>
            <a:fillRect/>
          </a:stretch>
        </p:blipFill>
        <p:spPr>
          <a:xfrm>
            <a:off x="7498079" y="2057400"/>
            <a:ext cx="41605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YOUR FIRST 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0:50–0:53 ·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Before Week 1: about 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5486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sz="1700" b="1" i="0">
                <a:solidFill>
                  <a:srgbClr val="187878"/>
                </a:solidFill>
                <a:latin typeface="Georgia"/>
              </a:rPr>
              <a:t>1 · </a:t>
            </a:r>
            <a:r>
              <a:rPr sz="1700" b="1" i="0">
                <a:solidFill>
                  <a:srgbClr val="1B3A5B"/>
                </a:solidFill>
                <a:latin typeface="Georgia"/>
              </a:rPr>
              <a:t>Take the starting-point survey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7635F"/>
                </a:solidFill>
                <a:latin typeface="Arial"/>
              </a:rPr>
              <a:t>Seven questions, two minutes. The same ones return in Week 6, so you can see your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920240"/>
            <a:ext cx="5486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sz="1700" b="1" i="0">
                <a:solidFill>
                  <a:srgbClr val="187878"/>
                </a:solidFill>
                <a:latin typeface="Georgia"/>
              </a:rPr>
              <a:t>2 · </a:t>
            </a:r>
            <a:r>
              <a:rPr sz="1700" b="1" i="0">
                <a:solidFill>
                  <a:srgbClr val="1B3A5B"/>
                </a:solidFill>
                <a:latin typeface="Georgia"/>
              </a:rPr>
              <a:t>Unlock Week 0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7635F"/>
                </a:solidFill>
                <a:latin typeface="Arial"/>
              </a:rPr>
              <a:t>Mark tonight's webinar attended; everything opens, and you can download your workbook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5486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sz="1700" b="1" i="0">
                <a:solidFill>
                  <a:srgbClr val="187878"/>
                </a:solidFill>
                <a:latin typeface="Georgia"/>
              </a:rPr>
              <a:t>3 · </a:t>
            </a:r>
            <a:r>
              <a:rPr sz="1700" b="1" i="0">
                <a:solidFill>
                  <a:srgbClr val="1B3A5B"/>
                </a:solidFill>
                <a:latin typeface="Georgia"/>
              </a:rPr>
              <a:t>Watch the first lesson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7635F"/>
                </a:solidFill>
                <a:latin typeface="Arial"/>
              </a:rPr>
              <a:t>“You're Not Done: Start Here,” five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520440"/>
            <a:ext cx="54864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sz="1700" b="1" i="0">
                <a:solidFill>
                  <a:srgbClr val="187878"/>
                </a:solidFill>
                <a:latin typeface="Georgia"/>
              </a:rPr>
              <a:t>4 · </a:t>
            </a:r>
            <a:r>
              <a:rPr sz="1700" b="1" i="0">
                <a:solidFill>
                  <a:srgbClr val="1B3A5B"/>
                </a:solidFill>
                <a:latin typeface="Georgia"/>
              </a:rPr>
              <a:t>Write one intention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57635F"/>
                </a:solidFill>
                <a:latin typeface="Arial"/>
              </a:rPr>
              <a:t>In your workbook: “I want to leave this program with ______.”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57800"/>
            <a:ext cx="11183112" cy="960120"/>
          </a:xfrm>
          <a:prstGeom prst="roundRect">
            <a:avLst>
              <a:gd name="adj" fmla="val 18000"/>
            </a:avLst>
          </a:prstGeom>
          <a:solidFill>
            <a:srgbClr val="FBEDE7"/>
          </a:solidFill>
          <a:ln w="22225">
            <a:solidFill>
              <a:srgbClr val="E38E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/>
          <a:lstStyle/>
          <a:p>
            <a:pPr algn="ctr"/>
            <a:r>
              <a:rPr sz="1150" b="1" i="0">
                <a:solidFill>
                  <a:srgbClr val="A84A2E"/>
                </a:solidFill>
                <a:latin typeface="Arial"/>
              </a:rPr>
              <a:t>IF YOURS IS ALREADY FORMING</a:t>
            </a:r>
          </a:p>
          <a:p>
            <a:r>
              <a:rPr sz="1600" b="0" i="0">
                <a:solidFill>
                  <a:srgbClr val="26302F"/>
                </a:solidFill>
                <a:latin typeface="Arial"/>
              </a:rPr>
              <a:t>Share your intention in the chat: “I want to leave with…”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87878"/>
                </a:solidFill>
                <a:latin typeface="Arial"/>
              </a:rPr>
              <a:t>OPEN FLOOR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1B3A5B"/>
                </a:solidFill>
                <a:latin typeface="Arial"/>
              </a:rPr>
              <a:t>0:53–0:58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B3A5B"/>
                </a:solidFill>
                <a:latin typeface="Georgia"/>
              </a:rPr>
              <a:t>Questions and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What are you hoping for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from these six weeks?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What are you worried about?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Money questions?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We'll write them down; they're exactly what Week 5 with Alyson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Same day and time each week</a:t>
            </a:r>
            <a:r>
              <a:rPr sz="1600" b="0" i="0">
                <a:solidFill>
                  <a:srgbClr val="26302F"/>
                </a:solidFill>
                <a:latin typeface="Arial"/>
              </a:rPr>
              <a:t>: the Zoom link comes by email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Can't make one live?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The recording and lessons will be there</a:t>
            </a:r>
          </a:p>
          <a:p>
            <a:pPr marL="274638" indent="-274638">
              <a:lnSpc>
                <a:spcPct val="108000"/>
              </a:lnSpc>
              <a:spcAft>
                <a:spcPts val="1100"/>
              </a:spcAft>
              <a:buClr>
                <a:srgbClr val="1B3A5B"/>
              </a:buClr>
              <a:buFont typeface="Arial"/>
              <a:buChar char="•"/>
            </a:pPr>
            <a:r>
              <a:rPr sz="1600" b="1" i="0">
                <a:solidFill>
                  <a:srgbClr val="1B3A5B"/>
                </a:solidFill>
                <a:latin typeface="Arial"/>
              </a:rPr>
              <a:t>Stuck between webinars?</a:t>
            </a:r>
            <a:r>
              <a:rPr sz="1600" b="0" i="0">
                <a:solidFill>
                  <a:srgbClr val="26302F"/>
                </a:solidFill>
                <a:latin typeface="Arial"/>
              </a:rPr>
              <a:t> Ask Hope in the app, anytime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7635F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FD4C2"/>
                </a:solidFill>
                <a:latin typeface="Arial"/>
              </a:rPr>
              <a:t>UNTIL WEEK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256032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4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2700" bIns="127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0:58–1:00 ·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Georgia"/>
              </a:rPr>
              <a:t>You're not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E38E76"/>
                </a:solidFill>
                <a:latin typeface="Georgia"/>
              </a:rPr>
              <a:t>You're just evolving.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AF1EE"/>
                </a:solidFill>
                <a:latin typeface="Arial"/>
              </a:rPr>
              <a:t>Next week, Name the Strain: live teaching, and scoring your three loads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FD4C2"/>
                </a:solidFill>
                <a:latin typeface="Arial"/>
              </a:rPr>
              <a:t>The Thrive 55+ Career Direction Method™</a:t>
            </a:r>
          </a:p>
          <a:p>
            <a:r>
              <a:rPr sz="1400">
                <a:solidFill>
                  <a:srgbClr val="EAF1EE"/>
                </a:solidFill>
                <a:latin typeface="Arial"/>
              </a:rPr>
              <a:t>Name the Strain   ·   Capture Your Value   ·   Investigate Your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FD4C2"/>
                </a:solidFill>
                <a:latin typeface="Georgia"/>
              </a:rPr>
              <a:t>© 2026 Sue Adair · Thrive 55+ Nursing Advantage™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